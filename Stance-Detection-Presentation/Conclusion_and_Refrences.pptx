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741E-2443-EAF1-CD50-1596AFBDC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964D6-9A4B-3367-6C55-649175846A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9443E-F47D-4BE0-A1C9-F83B398F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E2E-7F6F-4B27-AFE0-9B32BF4379B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C2329-9D12-B2F0-EC4E-828DE2705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4CB1-9CCA-01EB-8862-6DE1CCCDC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19EC-E56E-451B-88AD-CF95FE63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69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4662-469C-B26D-3A5F-B2CB3524C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8768D-7894-0D92-A74B-50CA6D92E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FE0CC-E2E7-9C45-DEFF-33EFA1680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E2E-7F6F-4B27-AFE0-9B32BF4379B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8618E-A654-401A-702F-8A39D4EA9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4E7A3-D413-B7CF-20CA-B82456398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19EC-E56E-451B-88AD-CF95FE63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4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F34B1-3C41-F15F-AB3E-4DFF1292F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607CF-62ED-3F03-45E8-6C2511311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B5ABA-A65D-0E1B-2972-8E9D909DF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E2E-7F6F-4B27-AFE0-9B32BF4379B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4308F-99ED-2504-4142-B819876C8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278F2-FD75-3423-BBC0-C8E7EBFBB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19EC-E56E-451B-88AD-CF95FE63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407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7349-CAF1-62E1-50A5-E53CE6D2A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97F28-7677-D4E5-D51D-E0D8AFC864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EFF19F-56C5-7651-2B02-B96A409E2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BDFBB-AFB6-12B4-A785-D37C4F3DD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E2E-7F6F-4B27-AFE0-9B32BF4379B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5D631-CCCA-C0BD-E864-E0665259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42D22-5A78-02F7-7D08-43C115233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19EC-E56E-451B-88AD-CF95FE63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9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06F3-A8A3-6721-588E-4A5346EB0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0BE7A-845F-B82F-4CF5-03DE74C2A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33C1DE-557F-4437-396B-C50AEA6B4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C7C3F-EB8C-A902-3775-08F0F58843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2F7637-0016-4C3B-7AFB-E8299B1A6D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4BE361-DA18-0B51-8615-225E018BE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E2E-7F6F-4B27-AFE0-9B32BF4379B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134CBA-34A7-8DA6-5958-BE53E2F0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BD530-1364-C278-8DD4-736741227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19EC-E56E-451B-88AD-CF95FE63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224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C10B3-10F2-6099-6A76-20845F845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7A0A7-A37C-8133-4678-B96A09084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E2E-7F6F-4B27-AFE0-9B32BF4379B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973F25-9C97-93C7-EE16-AE07351C1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22A52-367C-B38B-830D-7589139B1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19EC-E56E-451B-88AD-CF95FE63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36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2B7349-E2F5-3BE0-803F-A6F7140BF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E2E-7F6F-4B27-AFE0-9B32BF4379B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B6E4A3-A427-476B-DFA8-E60070ACD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45D87-10C1-9191-F762-66DAB48B5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19EC-E56E-451B-88AD-CF95FE63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85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1F31A-5C83-1F45-3922-40C5DB8D3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86F0C-6012-32D8-531D-B87E00352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C2B83-212F-6C0C-E617-B6EBAE634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E6AEE-F6FA-B818-B5BA-78F108EFF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E2E-7F6F-4B27-AFE0-9B32BF4379B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A911F-4ECD-FBBD-71FA-B5AE9F8D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0DE39-DA5D-A43B-8611-F9461C169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19EC-E56E-451B-88AD-CF95FE63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03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B14E6-837B-4F6A-0014-F22E27D57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3BC257-A592-EC84-C076-80EB8AEE9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6DFC6B-2354-554C-5659-D12004C64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F9126-47BF-7795-5420-3928BA66F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E2E-7F6F-4B27-AFE0-9B32BF4379B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C5624-4357-7382-AC46-EA7E55F73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EE57D-87CE-26C8-989B-7AF1BE0E4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19EC-E56E-451B-88AD-CF95FE63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7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71AA-CE8A-A890-6273-A2D0E9C2F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1BE15-43CB-9010-B606-7D03C60E8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98F1D-E2AA-240F-296B-6D72ED40C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E2E-7F6F-4B27-AFE0-9B32BF4379B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922B1-6954-440D-63F2-8775A0FB3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FEED3-44AE-D061-FAED-40B25A86F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19EC-E56E-451B-88AD-CF95FE63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210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EE681A-4D41-9E35-72B8-54FD46794A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602AD4-D01C-1991-1E32-DF731AA21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7454B-9E6C-580C-9F15-6748254DF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E2E-7F6F-4B27-AFE0-9B32BF4379B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7D1A9-AD7E-DCEB-78D3-B24C2CC4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92757-ECD7-78DE-548E-AA600D64C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19EC-E56E-451B-88AD-CF95FE63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58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AA9C43-8C4B-2709-7F59-1239D5CE5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D8B6C-C74D-2E21-D6CB-156CCB12D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CE47F-9563-5EAD-39F1-A8AFFDD37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ADE2E-7F6F-4B27-AFE0-9B32BF4379B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4ACCA-0588-57D0-32B3-9BCB6E1AE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B790A-BD8D-487D-AEB9-7FE6C37FC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519EC-E56E-451B-88AD-CF95FE63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97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aclanthology.org/2024.findings-acl.794/" TargetMode="External"/><Relationship Id="rId3" Type="http://schemas.openxmlformats.org/officeDocument/2006/relationships/hyperlink" Target="https://arxiv.org/abs/2305.13047" TargetMode="External"/><Relationship Id="rId7" Type="http://schemas.openxmlformats.org/officeDocument/2006/relationships/hyperlink" Target="https://aclanthology.org/2024.acl-long.838/" TargetMode="External"/><Relationship Id="rId2" Type="http://schemas.openxmlformats.org/officeDocument/2006/relationships/hyperlink" Target="https://arxiv.org/abs/2409.15690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clanthology.org/2024.acl-long.49/" TargetMode="External"/><Relationship Id="rId5" Type="http://schemas.openxmlformats.org/officeDocument/2006/relationships/hyperlink" Target="https://arxiv.org/abs/2505.08464" TargetMode="External"/><Relationship Id="rId4" Type="http://schemas.openxmlformats.org/officeDocument/2006/relationships/hyperlink" Target="https://www.mdpi.com/2079-9292/14/1/186" TargetMode="External"/><Relationship Id="rId9" Type="http://schemas.openxmlformats.org/officeDocument/2006/relationships/hyperlink" Target="https://arxiv.org/abs/2412.1400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EA60A-79CB-75B6-F4DE-EBFE6DAE8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6242"/>
            <a:ext cx="9144000" cy="1002433"/>
          </a:xfrm>
        </p:spPr>
        <p:txBody>
          <a:bodyPr/>
          <a:lstStyle/>
          <a:p>
            <a:pPr rtl="1"/>
            <a:r>
              <a:rPr lang="fa-IR" dirty="0">
                <a:cs typeface="B Nazanin" panose="00000400000000000000" pitchFamily="2" charset="-78"/>
              </a:rPr>
              <a:t>جمع‌بندی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Stance Detection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0F835C-0C5C-AF0E-892F-F9F7E328F3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93290" y="2170316"/>
            <a:ext cx="1132676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Stance detection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یک تسک مهم در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هست که هدفش تشخیص موضع یک متن نسبت به یک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مشخص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است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، نه صرفاً احساسات کلی متن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just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برخلاف</a:t>
            </a:r>
            <a:r>
              <a:rPr lang="fa-IR" altLang="en-US" sz="1800" dirty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،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این تسک روی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جهت‌گیری نظر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تمرکز دار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و می‌تو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اند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حتی در متونی با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مثبت، موضع مخالف یا خنثی ر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شناسایی کن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</a:t>
            </a:r>
            <a:r>
              <a:rPr lang="fa-IR" altLang="en-US" sz="18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just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a-IR" altLang="en-US" sz="1800" dirty="0"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just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Stance detection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جایگاهی بین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opinion mining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،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inference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و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fact-checking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دار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و نقش واسط بین تحلیل نظر و بررسی صحت اطلاعات ر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ایفا می‌کن</a:t>
            </a:r>
            <a:r>
              <a:rPr lang="fa-IR" altLang="en-US" sz="1800" dirty="0">
                <a:latin typeface="Arial" panose="020B0604020202020204" pitchFamily="34" charset="0"/>
                <a:cs typeface="B Nazanin" panose="00000400000000000000" pitchFamily="2" charset="-78"/>
              </a:rPr>
              <a:t>د.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just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به همین دلیل، این تسک پایه‌ای برای کاربردهایی مثل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claim verification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،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تحلیل شبکه‌های اجتماعی، مقابله با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misinformation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و تحلیل استدلال‌ها محسوب می‌ش</a:t>
            </a:r>
            <a:r>
              <a:rPr lang="fa-IR" altLang="en-US" sz="1800" dirty="0">
                <a:latin typeface="Arial" panose="020B0604020202020204" pitchFamily="34" charset="0"/>
                <a:cs typeface="B Nazanin" panose="00000400000000000000" pitchFamily="2" charset="-78"/>
              </a:rPr>
              <a:t>ود.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just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در نهایت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،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stance detection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یک لایه‌ی کلیدی برای درک گفتمان عمومی و حفظ یکپارچگی اطلاعات در فضای دیجیتال است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19624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D219D898-2BC7-AF27-4333-05B5E889224C}"/>
              </a:ext>
            </a:extLst>
          </p:cNvPr>
          <p:cNvSpPr/>
          <p:nvPr/>
        </p:nvSpPr>
        <p:spPr>
          <a:xfrm>
            <a:off x="1752600" y="1325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</a:rPr>
              <a:t>References</a:t>
            </a:r>
            <a:endParaRPr lang="en-US" sz="28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F7EAB58B-4C79-D54C-AD1F-A9706CDB7532}"/>
              </a:ext>
            </a:extLst>
          </p:cNvPr>
          <p:cNvSpPr/>
          <p:nvPr/>
        </p:nvSpPr>
        <p:spPr>
          <a:xfrm>
            <a:off x="1752600" y="2057400"/>
            <a:ext cx="8686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</a:rPr>
              <a:t>[1] M. Ott et al., “</a:t>
            </a:r>
            <a:r>
              <a:rPr lang="en-US" sz="1400" dirty="0">
                <a:solidFill>
                  <a:srgbClr val="404040"/>
                </a:solidFill>
                <a:hlinkClick r:id="rId2"/>
              </a:rPr>
              <a:t>A Survey of Stance Detection on Social Media</a:t>
            </a:r>
            <a:r>
              <a:rPr lang="en-US" sz="1400" dirty="0">
                <a:solidFill>
                  <a:srgbClr val="404040"/>
                </a:solidFill>
              </a:rPr>
              <a:t>,” 2024.
[2] A. Aynaz Mohebbi et al., “</a:t>
            </a:r>
            <a:r>
              <a:rPr lang="en-US" sz="1400" dirty="0">
                <a:solidFill>
                  <a:srgbClr val="404040"/>
                </a:solidFill>
                <a:hlinkClick r:id="rId3"/>
              </a:rPr>
              <a:t>Automated Stance Detection in Complex Topics and Small Languages</a:t>
            </a:r>
            <a:r>
              <a:rPr lang="en-US" sz="1400" dirty="0">
                <a:solidFill>
                  <a:srgbClr val="404040"/>
                </a:solidFill>
              </a:rPr>
              <a:t>,” PLOS ONE 2024.
[3] J. Qian et al., “</a:t>
            </a:r>
            <a:r>
              <a:rPr lang="en-US" sz="1400" dirty="0">
                <a:solidFill>
                  <a:srgbClr val="404040"/>
                </a:solidFill>
                <a:hlinkClick r:id="rId4"/>
              </a:rPr>
              <a:t>Integrating Emotional Features for Stance Detection</a:t>
            </a:r>
            <a:r>
              <a:rPr lang="en-US" sz="1400" dirty="0">
                <a:solidFill>
                  <a:srgbClr val="404040"/>
                </a:solidFill>
              </a:rPr>
              <a:t>,” Electronics 2024.
[4] M. Zibakhsh et al., “</a:t>
            </a:r>
            <a:r>
              <a:rPr lang="en-US" sz="1400" dirty="0">
                <a:solidFill>
                  <a:srgbClr val="404040"/>
                </a:solidFill>
                <a:hlinkClick r:id="rId5"/>
              </a:rPr>
              <a:t>Large Language Models Meet Stance Detection</a:t>
            </a:r>
            <a:r>
              <a:rPr lang="en-US" sz="1400" dirty="0">
                <a:solidFill>
                  <a:srgbClr val="404040"/>
                </a:solidFill>
              </a:rPr>
              <a:t>,” 2025.
[5] N. Amano et al., “</a:t>
            </a:r>
            <a:r>
              <a:rPr lang="en-US" sz="1400" dirty="0">
                <a:solidFill>
                  <a:srgbClr val="404040"/>
                </a:solidFill>
                <a:hlinkClick r:id="rId6"/>
              </a:rPr>
              <a:t>Tree‑of‑Counterfactual Prompting for Zero‑Shot Stance Identification</a:t>
            </a:r>
            <a:r>
              <a:rPr lang="en-US" sz="1400" dirty="0">
                <a:solidFill>
                  <a:srgbClr val="404040"/>
                </a:solidFill>
              </a:rPr>
              <a:t>,” ACL 2024.
[6] A. Ghosh et al., “</a:t>
            </a:r>
            <a:r>
              <a:rPr lang="en-US" sz="1400" dirty="0">
                <a:solidFill>
                  <a:srgbClr val="404040"/>
                </a:solidFill>
                <a:hlinkClick r:id="rId7"/>
              </a:rPr>
              <a:t>EZ‑STANCE: A Large Dataset for Zero‑Shot Stance Detection</a:t>
            </a:r>
            <a:r>
              <a:rPr lang="en-US" sz="1400" dirty="0">
                <a:solidFill>
                  <a:srgbClr val="404040"/>
                </a:solidFill>
              </a:rPr>
              <a:t>,” ACL 2024.
[7] Y. Xu et al., “</a:t>
            </a:r>
            <a:r>
              <a:rPr lang="en-US" sz="1400" dirty="0">
                <a:solidFill>
                  <a:srgbClr val="404040"/>
                </a:solidFill>
                <a:hlinkClick r:id="rId8"/>
              </a:rPr>
              <a:t>ZeroStance: Open‑Domain Stance Detection via Dataset Generation</a:t>
            </a:r>
            <a:r>
              <a:rPr lang="en-US" sz="1400" dirty="0">
                <a:solidFill>
                  <a:srgbClr val="404040"/>
                </a:solidFill>
              </a:rPr>
              <a:t>,” Findings of ACL 2024.
[8] M. </a:t>
            </a:r>
            <a:r>
              <a:rPr lang="en-US" sz="1400" dirty="0" err="1">
                <a:solidFill>
                  <a:srgbClr val="404040"/>
                </a:solidFill>
              </a:rPr>
              <a:t>Zarhran</a:t>
            </a:r>
            <a:r>
              <a:rPr lang="en-US" sz="1400" dirty="0">
                <a:solidFill>
                  <a:srgbClr val="404040"/>
                </a:solidFill>
              </a:rPr>
              <a:t> et al., “</a:t>
            </a:r>
            <a:r>
              <a:rPr lang="en-US" sz="1400" dirty="0">
                <a:solidFill>
                  <a:srgbClr val="404040"/>
                </a:solidFill>
                <a:hlinkClick r:id="rId9"/>
              </a:rPr>
              <a:t>FarExStance: Explainable Stance Detection for Farsi</a:t>
            </a:r>
            <a:r>
              <a:rPr lang="en-US" sz="1400" dirty="0">
                <a:solidFill>
                  <a:srgbClr val="404040"/>
                </a:solidFill>
              </a:rPr>
              <a:t>,” COLING 2025.
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3634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335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جمع‌بندی Stance Detection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Kourosh Hassanzadeh</dc:creator>
  <cp:lastModifiedBy>Kourosh Hassanzadeh</cp:lastModifiedBy>
  <cp:revision>4</cp:revision>
  <dcterms:created xsi:type="dcterms:W3CDTF">2026-02-01T09:47:46Z</dcterms:created>
  <dcterms:modified xsi:type="dcterms:W3CDTF">2026-02-01T10:08:55Z</dcterms:modified>
</cp:coreProperties>
</file>